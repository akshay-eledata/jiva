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554480"/>
            <a:ext cx="2926080" cy="1126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749039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A6130"/>
                </a:solidFill>
                <a:latin typeface="Lexend"/>
              </a:rPr>
              <a:t>Precision Wellness · Personalized to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212B"/>
                </a:solidFill>
                <a:latin typeface="Inter"/>
              </a:rPr>
              <a:t>Product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6130"/>
                </a:solidFill>
                <a:latin typeface="Lexend"/>
              </a:rPr>
              <a:t>A lab report is data, not guidance.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66160"/>
            <a:ext cx="8961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12B"/>
                </a:solidFill>
                <a:latin typeface="Inter"/>
              </a:rPr>
              <a:t>A standard blood panel returns more than 100 values. Most people cannot act on a single one of them.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A6130"/>
                </a:solidFill>
                <a:latin typeface="Inter"/>
              </a:rPr>
              <a:t>JIVA turns those numbers into a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6130"/>
                </a:solidFill>
                <a:latin typeface="Lexend"/>
              </a:rPr>
              <a:t>How JIVA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567" y="1600200"/>
            <a:ext cx="26974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5167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6130"/>
                </a:solidFill>
                <a:latin typeface="Lexen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167" y="2514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212B"/>
                </a:solidFill>
                <a:latin typeface="Lexend"/>
              </a:rPr>
              <a:t>Questionnaire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167" y="32918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A212B"/>
                </a:solidFill>
                <a:latin typeface="Inter"/>
              </a:rPr>
              <a:t>Lifestyle, nutrition, activity, medical and family history shape everything that follows.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6927" y="1600200"/>
            <a:ext cx="26974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5527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6130"/>
                </a:solidFill>
                <a:latin typeface="Lexen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527" y="2514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212B"/>
                </a:solidFill>
                <a:latin typeface="Lexend"/>
              </a:rPr>
              <a:t>Panel and blood draw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5527" y="32918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A212B"/>
                </a:solidFill>
                <a:latin typeface="Inter"/>
              </a:rPr>
              <a:t>One draw at a partner lab covers 69 to 100+ biomarkers, chosen from a base panel plus targeted add-ons.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600200"/>
            <a:ext cx="26974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6130"/>
                </a:solidFill>
                <a:latin typeface="Lexen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514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212B"/>
                </a:solidFill>
                <a:latin typeface="Lexend"/>
              </a:rPr>
              <a:t>Clinical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32918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A212B"/>
                </a:solidFill>
                <a:latin typeface="Inter"/>
              </a:rPr>
              <a:t>Physician-led analysis maps every value to 10 functional body systems and ranks what matters.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7647" y="1600200"/>
            <a:ext cx="26974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6247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6130"/>
                </a:solidFill>
                <a:latin typeface="Lexen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247" y="2514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212B"/>
                </a:solidFill>
                <a:latin typeface="Lexend"/>
              </a:rPr>
              <a:t>Vitality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6247" y="32918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A212B"/>
                </a:solidFill>
                <a:latin typeface="Inter"/>
              </a:rPr>
              <a:t>A personal report with a biological age and concrete food, supplement, exercise and yoga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6130"/>
                </a:solidFill>
                <a:latin typeface="Lexend"/>
              </a:rPr>
              <a:t>Personalization starts before the blood draw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12B"/>
                </a:solidFill>
                <a:latin typeface="Inter"/>
              </a:rPr>
              <a:t>A six-part intake covers lifestyle, nutrition, activity, medical history, family history and goals. Answers steer the panel selection and every later recommendation.</a:t>
            </a:r>
          </a:p>
        </p:txBody>
      </p:sp>
      <p:pic>
        <p:nvPicPr>
          <p:cNvPr id="4" name="Picture 3" descr="in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600200"/>
            <a:ext cx="8778240" cy="4937760"/>
          </a:xfrm>
          <a:prstGeom prst="rect">
            <a:avLst/>
          </a:prstGeom>
          <a:ln w="15875">
            <a:solidFill>
              <a:srgbClr val="DDEEDE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6130"/>
                </a:solidFill>
                <a:latin typeface="Lexend"/>
              </a:rPr>
              <a:t>One map of your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12B"/>
                </a:solidFill>
                <a:latin typeface="Inter"/>
              </a:rPr>
              <a:t>69 lab values become 10 color-coded body systems, a range breakdown, and a biological age of 30.8 against a calendar age of 29.</a:t>
            </a:r>
          </a:p>
        </p:txBody>
      </p:sp>
      <p:pic>
        <p:nvPicPr>
          <p:cNvPr id="4" name="Picture 3" descr="vitality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600200"/>
            <a:ext cx="8778240" cy="4937760"/>
          </a:xfrm>
          <a:prstGeom prst="rect">
            <a:avLst/>
          </a:prstGeom>
          <a:ln w="15875">
            <a:solidFill>
              <a:srgbClr val="DDEEDE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6130"/>
                </a:solidFill>
                <a:latin typeface="Lexend"/>
              </a:rPr>
              <a:t>Every number explained. Every action justified.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12B"/>
                </a:solidFill>
                <a:latin typeface="Inter"/>
              </a:rPr>
              <a:t>Each biomarker sits on its reference range in plain language, and every food, supplement and exercise ties back to her specific values.</a:t>
            </a:r>
          </a:p>
        </p:txBody>
      </p:sp>
      <p:pic>
        <p:nvPicPr>
          <p:cNvPr id="4" name="Picture 3" descr="biomar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486400" cy="3086100"/>
          </a:xfrm>
          <a:prstGeom prst="rect">
            <a:avLst/>
          </a:prstGeom>
          <a:ln w="15875">
            <a:solidFill>
              <a:srgbClr val="DDEEDE"/>
            </a:solidFill>
          </a:ln>
        </p:spPr>
      </p:pic>
      <p:pic>
        <p:nvPicPr>
          <p:cNvPr id="5" name="Picture 4" descr="action-p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486400" cy="3086100"/>
          </a:xfrm>
          <a:prstGeom prst="rect">
            <a:avLst/>
          </a:prstGeom>
          <a:ln w="15875">
            <a:solidFill>
              <a:srgbClr val="DDEEDE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6130"/>
                </a:solidFill>
                <a:latin typeface="Lexend"/>
              </a:rPr>
              <a:t>Six months later, measurably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12B"/>
                </a:solidFill>
                <a:latin typeface="Inter"/>
              </a:rPr>
              <a:t>A follow-up draw compares every system against the baseline. Progress is visible, and the plan updates to maintenance where she has improved.</a:t>
            </a:r>
          </a:p>
        </p:txBody>
      </p:sp>
      <p:pic>
        <p:nvPicPr>
          <p:cNvPr id="4" name="Picture 3" descr="vitality-map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600200"/>
            <a:ext cx="8778240" cy="4937760"/>
          </a:xfrm>
          <a:prstGeom prst="rect">
            <a:avLst/>
          </a:prstGeom>
          <a:ln w="15875">
            <a:solidFill>
              <a:srgbClr val="DDEEDE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6130"/>
                </a:solidFill>
                <a:latin typeface="Lexend"/>
              </a:rPr>
              <a:t>Why JIVA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007" y="182880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327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A6130"/>
                </a:solidFill>
                <a:latin typeface="Lexend"/>
              </a:rPr>
              <a:t>Built for Latin America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327" y="3063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12B"/>
                </a:solidFill>
                <a:latin typeface="Inter"/>
              </a:rPr>
              <a:t>A Spanish-first experience with WhatsApp scheduling, local payment rails and locally available foods in every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2767" y="182880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087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A6130"/>
                </a:solidFill>
                <a:latin typeface="Lexend"/>
              </a:rPr>
              <a:t>A physician-led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7087" y="3063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12B"/>
                </a:solidFill>
                <a:latin typeface="Inter"/>
              </a:rPr>
              <a:t>Recommendations anchored to your own numbers, not generic wellness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7527" y="182880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1847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A6130"/>
                </a:solidFill>
                <a:latin typeface="Lexend"/>
              </a:rPr>
              <a:t>Nicoya Blue Zone heritage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1847" y="3063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12B"/>
                </a:solidFill>
                <a:latin typeface="Inter"/>
              </a:rPr>
              <a:t>Longevity science from one of only five places on earth where people demonstrably live longest.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6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6517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Lexend"/>
              </a:rPr>
              <a:t>See it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749039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E274"/>
                </a:solidFill>
                <a:latin typeface="Inter"/>
              </a:rPr>
              <a:t>Live product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